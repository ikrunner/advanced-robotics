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72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5BA24-1E93-4619-B1A7-47CCF9D3E9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3E6F2F-5FD1-4FBC-8DBB-DC23FD5A2A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512DB0-7FDA-4AA6-9E8B-6C342AC7808C}"/>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5" name="Footer Placeholder 4">
            <a:extLst>
              <a:ext uri="{FF2B5EF4-FFF2-40B4-BE49-F238E27FC236}">
                <a16:creationId xmlns:a16="http://schemas.microsoft.com/office/drawing/2014/main" id="{A0BA416B-6AAA-44A5-96AF-53CFC09B5F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7BB18-3603-4A27-B399-9CFAF4962453}"/>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3356728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7314-A350-4C57-A2F8-63C7478915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B5661-4376-437C-8F66-365BED8367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375B5-3FBE-488F-B9CD-FDDFB54E9F8D}"/>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5" name="Footer Placeholder 4">
            <a:extLst>
              <a:ext uri="{FF2B5EF4-FFF2-40B4-BE49-F238E27FC236}">
                <a16:creationId xmlns:a16="http://schemas.microsoft.com/office/drawing/2014/main" id="{8FC8AF6E-3C52-486B-B543-2111245A3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A67926-8F9D-4055-99E1-456686F5D38B}"/>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914828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E7568-E439-46C5-A7B7-9C23E33FED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8DF39B-E7D0-4012-9B53-27449C0525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7377F4-69BA-46B1-B00E-B25C56F5D005}"/>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5" name="Footer Placeholder 4">
            <a:extLst>
              <a:ext uri="{FF2B5EF4-FFF2-40B4-BE49-F238E27FC236}">
                <a16:creationId xmlns:a16="http://schemas.microsoft.com/office/drawing/2014/main" id="{23BAFB48-69D5-4C63-8DA9-508CEF9875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39BA81-9454-4A2C-9217-6B3FB382E9F7}"/>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2493706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ACFB-5A48-452F-B241-57EBD3F45D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456406-6C5D-4535-8CAB-64C4D24F84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5278BC-3EC5-415B-BE59-5AB41ADC7C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AE3B3F-CEFD-4244-B927-E08B2FA46D41}"/>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6" name="Footer Placeholder 5">
            <a:extLst>
              <a:ext uri="{FF2B5EF4-FFF2-40B4-BE49-F238E27FC236}">
                <a16:creationId xmlns:a16="http://schemas.microsoft.com/office/drawing/2014/main" id="{9B9FCFF0-7F69-4921-9B02-48E7DA5DB8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18686A-6F13-4D15-B16A-5966A4CB3E17}"/>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812496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8A7D6-5F2B-4C53-9B92-34909F3F2D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2E45C9-DFFC-4128-BAD6-9E24370D4F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4AB29E-CD20-4204-88C7-1A23EA7122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40926D-60B8-4CDC-896F-2C66A74058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E263FD-CE34-4130-AA96-5E23B81B76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6812F5-4EA7-4536-8558-35A23DDAFA18}"/>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8" name="Footer Placeholder 7">
            <a:extLst>
              <a:ext uri="{FF2B5EF4-FFF2-40B4-BE49-F238E27FC236}">
                <a16:creationId xmlns:a16="http://schemas.microsoft.com/office/drawing/2014/main" id="{B416E80B-58B3-435D-9C21-B7C3B0E068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742CA5-15CC-41C5-93A1-E1AF3F975AB5}"/>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3920936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49D8-C765-423C-B268-23F9C6FFF9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65D2A9-06E9-40DC-AA60-84C7CCEB022A}"/>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4" name="Footer Placeholder 3">
            <a:extLst>
              <a:ext uri="{FF2B5EF4-FFF2-40B4-BE49-F238E27FC236}">
                <a16:creationId xmlns:a16="http://schemas.microsoft.com/office/drawing/2014/main" id="{ABBE6A1B-C389-4263-8DBD-390A0AF269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662589-6235-489B-9C49-4C0BD8FF8804}"/>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442598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7CE410-A45A-429C-8747-D49EBA4FB13A}"/>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3" name="Footer Placeholder 2">
            <a:extLst>
              <a:ext uri="{FF2B5EF4-FFF2-40B4-BE49-F238E27FC236}">
                <a16:creationId xmlns:a16="http://schemas.microsoft.com/office/drawing/2014/main" id="{62AD7738-5A55-4BEE-9937-7FCC0AC2A0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D63477-FCC3-4F9F-B22B-0451B14FB793}"/>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1315905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0C863-10C2-450C-A4A6-988DCCAAAD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51A580-BCB6-4977-869D-602CBADF92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3A13B3-DAE4-45CD-A341-8CA367691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5DA3A-EFDE-4238-A6FD-DB39C1A8E59B}"/>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6" name="Footer Placeholder 5">
            <a:extLst>
              <a:ext uri="{FF2B5EF4-FFF2-40B4-BE49-F238E27FC236}">
                <a16:creationId xmlns:a16="http://schemas.microsoft.com/office/drawing/2014/main" id="{DD2882D8-EF32-4784-95A4-12AD35BF4B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F9448F-A54D-4090-957D-657CD4E1E6E7}"/>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146558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9C73F-1204-4A58-90A9-76B75997A5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4AA449-CB63-4FFC-888D-5AAE165C8E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CCAC98-6E4C-4449-8072-5F9CB33DAC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69471D-3F9A-4CD5-8FB9-2DC98D5D1775}"/>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6" name="Footer Placeholder 5">
            <a:extLst>
              <a:ext uri="{FF2B5EF4-FFF2-40B4-BE49-F238E27FC236}">
                <a16:creationId xmlns:a16="http://schemas.microsoft.com/office/drawing/2014/main" id="{CEB3ABB3-4159-45C4-8CB1-5FCF6BEB27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E72D0A-DACB-4934-8248-B623809D6E55}"/>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2858007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8F156-2C9F-4E7A-9376-8B6F213C9B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B4D967-7CD5-474D-B3B1-B87A5F59B1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392745-4AFE-4B92-A99B-6027F41FE3FD}"/>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5" name="Footer Placeholder 4">
            <a:extLst>
              <a:ext uri="{FF2B5EF4-FFF2-40B4-BE49-F238E27FC236}">
                <a16:creationId xmlns:a16="http://schemas.microsoft.com/office/drawing/2014/main" id="{682A8840-5E21-4F87-B344-608B938DC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93F6E3-2E12-4E4F-BFFE-484AB13BF3CD}"/>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2692982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BF1B79-C12A-46F6-AFF6-F8533B1A5A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6D63F5-8460-442F-B202-0D47D6DE85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E873B-23FF-4B9D-9519-C35EB5E8DA21}"/>
              </a:ext>
            </a:extLst>
          </p:cNvPr>
          <p:cNvSpPr>
            <a:spLocks noGrp="1"/>
          </p:cNvSpPr>
          <p:nvPr>
            <p:ph type="dt" sz="half" idx="10"/>
          </p:nvPr>
        </p:nvSpPr>
        <p:spPr/>
        <p:txBody>
          <a:bodyPr/>
          <a:lstStyle/>
          <a:p>
            <a:fld id="{1A530A1A-FD00-465F-BA55-CAB54105FE29}" type="datetimeFigureOut">
              <a:rPr lang="en-US" smtClean="0"/>
              <a:t>2/23/2021</a:t>
            </a:fld>
            <a:endParaRPr lang="en-US"/>
          </a:p>
        </p:txBody>
      </p:sp>
      <p:sp>
        <p:nvSpPr>
          <p:cNvPr id="5" name="Footer Placeholder 4">
            <a:extLst>
              <a:ext uri="{FF2B5EF4-FFF2-40B4-BE49-F238E27FC236}">
                <a16:creationId xmlns:a16="http://schemas.microsoft.com/office/drawing/2014/main" id="{ADBFA230-F49E-4F07-A0A5-FF76A97B9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C842EF-5E77-498B-ADA1-6A0486C31595}"/>
              </a:ext>
            </a:extLst>
          </p:cNvPr>
          <p:cNvSpPr>
            <a:spLocks noGrp="1"/>
          </p:cNvSpPr>
          <p:nvPr>
            <p:ph type="sldNum" sz="quarter" idx="12"/>
          </p:nvPr>
        </p:nvSpPr>
        <p:spPr/>
        <p:txBody>
          <a:bodyPr/>
          <a:lstStyle/>
          <a:p>
            <a:fld id="{D120B6BB-D2B0-49D8-9255-79878B11380A}" type="slidenum">
              <a:rPr lang="en-US" smtClean="0"/>
              <a:t>‹#›</a:t>
            </a:fld>
            <a:endParaRPr lang="en-US"/>
          </a:p>
        </p:txBody>
      </p:sp>
    </p:spTree>
    <p:extLst>
      <p:ext uri="{BB962C8B-B14F-4D97-AF65-F5344CB8AC3E}">
        <p14:creationId xmlns:p14="http://schemas.microsoft.com/office/powerpoint/2010/main" val="1021713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E85B58-B60A-432D-8CDE-2AC80D5ADA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A94444-A90D-49A1-BF1B-92C577DFF6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44CE5-848A-4B9F-A80C-61F4664BD7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530A1A-FD00-465F-BA55-CAB54105FE29}" type="datetimeFigureOut">
              <a:rPr lang="en-US" smtClean="0"/>
              <a:t>2/23/2021</a:t>
            </a:fld>
            <a:endParaRPr lang="en-US"/>
          </a:p>
        </p:txBody>
      </p:sp>
      <p:sp>
        <p:nvSpPr>
          <p:cNvPr id="5" name="Footer Placeholder 4">
            <a:extLst>
              <a:ext uri="{FF2B5EF4-FFF2-40B4-BE49-F238E27FC236}">
                <a16:creationId xmlns:a16="http://schemas.microsoft.com/office/drawing/2014/main" id="{0170C5BE-3878-4262-ACC2-E6AE035A9E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A51B20-F018-4B1E-B7AD-529CDE2E0A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20B6BB-D2B0-49D8-9255-79878B11380A}" type="slidenum">
              <a:rPr lang="en-US" smtClean="0"/>
              <a:t>‹#›</a:t>
            </a:fld>
            <a:endParaRPr lang="en-US"/>
          </a:p>
        </p:txBody>
      </p:sp>
    </p:spTree>
    <p:extLst>
      <p:ext uri="{BB962C8B-B14F-4D97-AF65-F5344CB8AC3E}">
        <p14:creationId xmlns:p14="http://schemas.microsoft.com/office/powerpoint/2010/main" val="114886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en.wikipedia.org/wiki/Damping_ratio" TargetMode="External"/><Relationship Id="rId5" Type="http://schemas.openxmlformats.org/officeDocument/2006/relationships/hyperlink" Target="https://en.wikipedia.org/wiki/Logarithmic_decrement"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5" name="Picture 4" descr="Chart, line chart&#10;&#10;Description automatically generated">
            <a:extLst>
              <a:ext uri="{FF2B5EF4-FFF2-40B4-BE49-F238E27FC236}">
                <a16:creationId xmlns:a16="http://schemas.microsoft.com/office/drawing/2014/main" id="{16483B22-3E79-42C6-B289-0175F90B62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050" y="167585"/>
            <a:ext cx="4126624" cy="3094968"/>
          </a:xfrm>
          <a:prstGeom prst="rect">
            <a:avLst/>
          </a:prstGeom>
        </p:spPr>
      </p:pic>
      <p:pic>
        <p:nvPicPr>
          <p:cNvPr id="7" name="Picture 6" descr="Chart, line chart&#10;&#10;Description automatically generated">
            <a:extLst>
              <a:ext uri="{FF2B5EF4-FFF2-40B4-BE49-F238E27FC236}">
                <a16:creationId xmlns:a16="http://schemas.microsoft.com/office/drawing/2014/main" id="{A94572A6-2DAE-4475-B1E5-1DA3E708C0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87" y="3436273"/>
            <a:ext cx="4133088" cy="3099816"/>
          </a:xfrm>
          <a:prstGeom prst="rect">
            <a:avLst/>
          </a:prstGeom>
        </p:spPr>
      </p:pic>
      <p:sp>
        <p:nvSpPr>
          <p:cNvPr id="9" name="Subtitle 8">
            <a:extLst>
              <a:ext uri="{FF2B5EF4-FFF2-40B4-BE49-F238E27FC236}">
                <a16:creationId xmlns:a16="http://schemas.microsoft.com/office/drawing/2014/main" id="{6349F55E-1F21-4B78-9A91-88B33D5FC68B}"/>
              </a:ext>
            </a:extLst>
          </p:cNvPr>
          <p:cNvSpPr>
            <a:spLocks noGrp="1"/>
          </p:cNvSpPr>
          <p:nvPr>
            <p:ph type="subTitle" idx="1"/>
          </p:nvPr>
        </p:nvSpPr>
        <p:spPr>
          <a:xfrm>
            <a:off x="4629150" y="638176"/>
            <a:ext cx="6162675" cy="4777114"/>
          </a:xfrm>
        </p:spPr>
        <p:txBody>
          <a:bodyPr>
            <a:normAutofit lnSpcReduction="10000"/>
          </a:bodyPr>
          <a:lstStyle/>
          <a:p>
            <a:pPr algn="l"/>
            <a:r>
              <a:rPr lang="en-US" sz="1200" dirty="0"/>
              <a:t>Looking at both Figures 1 and 2, it must be noted that the tuning processes turned out to be much more difficult than expected. The procedure for tuning involved tuning the z-position step response, followed by the  yaw step, roll step , pitch step, x-position step, and y-position step respectively. Along the way, for each of the position step responses, care was taken to arbitrarily set the step response at 1.5 seconds to an average of 0.0467 and an average of response of 0.0036 at 0.2 seconds for the attitude step responses. However the figures at the right show that maintaining those results in the final tuned system were far from ideal. </a:t>
            </a:r>
          </a:p>
          <a:p>
            <a:pPr algn="l"/>
            <a:endParaRPr lang="en-US" sz="1200" dirty="0"/>
          </a:p>
          <a:p>
            <a:pPr algn="l"/>
            <a:r>
              <a:rPr lang="en-US" sz="1200" dirty="0"/>
              <a:t>Both Figures 1 and 2 appear to be underdamped, with zeta &lt; 1 therefore the logarithmic decrement method can be used to estimate the damping ratios for both step responses. See Source 1 below. However given that the successive peak in each step response is vanishingly small, using this method will prove difficult by inspection, therefore we can safely estimate the damping ratio for each system to be between 0.4 and 0.7 according to known damping ratio plots (Source 2).</a:t>
            </a:r>
          </a:p>
          <a:p>
            <a:pPr algn="l"/>
            <a:endParaRPr lang="en-US" sz="1200" dirty="0"/>
          </a:p>
          <a:p>
            <a:pPr algn="l"/>
            <a:r>
              <a:rPr lang="en-US" sz="1200" dirty="0"/>
              <a:t>For settling time, typically defined as the time at which the system response reaches a 3% tolerance band. Therefore we see that for roll and x-position step responses, the settling time is vanishingly fast. More specifically we note that the system roll step system settles to equilibrium at t=2 whereas the x-position step settles at t=4. </a:t>
            </a:r>
          </a:p>
          <a:p>
            <a:pPr algn="l"/>
            <a:endParaRPr lang="en-US" sz="1200" dirty="0"/>
          </a:p>
          <a:p>
            <a:pPr algn="l"/>
            <a:endParaRPr lang="en-US" sz="1200" dirty="0"/>
          </a:p>
          <a:p>
            <a:pPr algn="l"/>
            <a:endParaRPr lang="en-US" sz="1200" dirty="0"/>
          </a:p>
          <a:p>
            <a:pPr algn="l"/>
            <a:r>
              <a:rPr lang="en-US" sz="1200" dirty="0"/>
              <a:t>Source1: </a:t>
            </a:r>
            <a:r>
              <a:rPr lang="en-US" sz="1200" dirty="0">
                <a:hlinkClick r:id="rId5"/>
              </a:rPr>
              <a:t>https://en.wikipedia.org/wiki/Logarithmic_decrement</a:t>
            </a:r>
            <a:endParaRPr lang="en-US" sz="1200" dirty="0"/>
          </a:p>
          <a:p>
            <a:pPr algn="l"/>
            <a:r>
              <a:rPr lang="en-US" sz="1200" dirty="0"/>
              <a:t>Source 2</a:t>
            </a:r>
            <a:r>
              <a:rPr lang="en-US" sz="1200"/>
              <a:t>: </a:t>
            </a:r>
            <a:r>
              <a:rPr lang="en-US" sz="1200">
                <a:hlinkClick r:id="rId6"/>
              </a:rPr>
              <a:t>https://en.wikipedia.org/wiki/Damping_ratio</a:t>
            </a:r>
            <a:endParaRPr lang="en-US" sz="1200"/>
          </a:p>
          <a:p>
            <a:pPr algn="l"/>
            <a:endParaRPr lang="en-US" sz="1200" dirty="0"/>
          </a:p>
          <a:p>
            <a:pPr algn="l"/>
            <a:endParaRPr lang="en-US" sz="1200" dirty="0"/>
          </a:p>
        </p:txBody>
      </p:sp>
      <p:sp>
        <p:nvSpPr>
          <p:cNvPr id="10" name="Subtitle 8">
            <a:extLst>
              <a:ext uri="{FF2B5EF4-FFF2-40B4-BE49-F238E27FC236}">
                <a16:creationId xmlns:a16="http://schemas.microsoft.com/office/drawing/2014/main" id="{041D8F7F-C9F0-4C8C-B877-7C356F60F582}"/>
              </a:ext>
            </a:extLst>
          </p:cNvPr>
          <p:cNvSpPr txBox="1">
            <a:spLocks/>
          </p:cNvSpPr>
          <p:nvPr/>
        </p:nvSpPr>
        <p:spPr>
          <a:xfrm>
            <a:off x="662587" y="3277099"/>
            <a:ext cx="3257550" cy="31834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dirty="0"/>
              <a:t>Figure 1</a:t>
            </a:r>
          </a:p>
        </p:txBody>
      </p:sp>
      <p:sp>
        <p:nvSpPr>
          <p:cNvPr id="11" name="Subtitle 8">
            <a:extLst>
              <a:ext uri="{FF2B5EF4-FFF2-40B4-BE49-F238E27FC236}">
                <a16:creationId xmlns:a16="http://schemas.microsoft.com/office/drawing/2014/main" id="{40A59F85-782D-49A8-B5BC-179F8D4B0EF3}"/>
              </a:ext>
            </a:extLst>
          </p:cNvPr>
          <p:cNvSpPr txBox="1">
            <a:spLocks/>
          </p:cNvSpPr>
          <p:nvPr/>
        </p:nvSpPr>
        <p:spPr>
          <a:xfrm>
            <a:off x="662587" y="6553041"/>
            <a:ext cx="3257550" cy="31834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dirty="0"/>
              <a:t>Figure 2</a:t>
            </a:r>
          </a:p>
        </p:txBody>
      </p:sp>
    </p:spTree>
    <p:extLst>
      <p:ext uri="{BB962C8B-B14F-4D97-AF65-F5344CB8AC3E}">
        <p14:creationId xmlns:p14="http://schemas.microsoft.com/office/powerpoint/2010/main" val="39970512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601</TotalTime>
  <Words>311</Words>
  <Application>Microsoft Office PowerPoint</Application>
  <PresentationFormat>Widescreen</PresentationFormat>
  <Paragraphs>12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Achilihu, Ikenna O</dc:creator>
  <cp:lastModifiedBy>Achilihu, Ikenna O</cp:lastModifiedBy>
  <cp:revision>7</cp:revision>
  <dcterms:created xsi:type="dcterms:W3CDTF">2021-02-23T07:54:42Z</dcterms:created>
  <dcterms:modified xsi:type="dcterms:W3CDTF">2021-02-23T17:56:26Z</dcterms:modified>
</cp:coreProperties>
</file>